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685800"/>
            <a:ext cx="5577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2DCE5"/>
                </a:solidFill>
                <a:latin typeface="Aptos"/>
              </a:rPr>
              <a:t>DESIGN AND ANALYSIS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98448"/>
            <a:ext cx="566928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F2F6FF"/>
                </a:solidFill>
                <a:latin typeface="Aptos"/>
              </a:rPr>
              <a:t>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31720"/>
            <a:ext cx="55778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9B8CF"/>
                </a:solidFill>
                <a:latin typeface="Aptos"/>
              </a:rPr>
              <a:t>Choose a pivot. Partition. Repeat.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154680"/>
            <a:ext cx="5349240" cy="105156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310128"/>
            <a:ext cx="4846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F6FF"/>
                </a:solidFill>
                <a:latin typeface="Aptos"/>
              </a:rPr>
              <a:t>A divide-and-conquer sorting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685032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2DCE5"/>
                </a:solidFill>
                <a:latin typeface="Aptos"/>
              </a:rPr>
              <a:t>Average time: O(n log n)  •  In-place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681728"/>
            <a:ext cx="182880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4690872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AB7BFF"/>
                </a:solidFill>
                <a:latin typeface="Aptos"/>
              </a:rPr>
              <a:t>DAA LAB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285232"/>
            <a:ext cx="56692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9B8CF"/>
                </a:solidFill>
                <a:latin typeface="Aptos"/>
              </a:rPr>
              <a:t>Generated using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43000"/>
            <a:ext cx="43434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A9B8CF"/>
                </a:solidFill>
                <a:latin typeface="Aptos"/>
              </a:rPr>
              <a:t>EXAMPLE ARRAY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63256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3256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9912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7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93224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93224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9880" y="1645920"/>
            <a:ext cx="566928" cy="65836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1655064"/>
            <a:ext cx="566928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514600"/>
            <a:ext cx="96012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523744"/>
            <a:ext cx="8686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35C"/>
                </a:solidFill>
                <a:latin typeface="Aptos"/>
              </a:rPr>
              <a:t>PIVOT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62656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B35C"/>
                </a:solidFill>
                <a:latin typeface="Aptos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40112" y="2331720"/>
            <a:ext cx="411480" cy="182880"/>
          </a:xfrm>
          <a:prstGeom prst="line">
            <a:avLst/>
          </a:prstGeom>
          <a:ln w="2286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59168" y="3657600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F6FF"/>
                </a:solidFill>
                <a:latin typeface="Aptos"/>
              </a:rPr>
              <a:t>Smaller values  ←  5  →  Larger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187952"/>
            <a:ext cx="438912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The pivot reaches its correct final position after partitioning.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01  /  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The idea behind Quick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48006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2F6FF"/>
                </a:solidFill>
                <a:latin typeface="Aptos"/>
              </a:rPr>
              <a:t>Quick Sort repeatedly reduces one big problem into smaller 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9601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13432"/>
            <a:ext cx="123444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22575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42DCE5"/>
                </a:solidFill>
                <a:latin typeface="Aptos"/>
              </a:rPr>
              <a:t>PICK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212848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2F6FF"/>
                </a:solidFill>
                <a:latin typeface="Aptos"/>
              </a:rPr>
              <a:t>Choose one element as the pivot.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10128"/>
            <a:ext cx="5029200" cy="9601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3520440"/>
            <a:ext cx="141732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9584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35C"/>
                </a:solidFill>
                <a:latin typeface="Aptos"/>
              </a:rPr>
              <a:t>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419856"/>
            <a:ext cx="27432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Move smaller values left and larger values right.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17136"/>
            <a:ext cx="5029200" cy="9601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727448"/>
            <a:ext cx="123444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36592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EE19D"/>
                </a:solidFill>
                <a:latin typeface="Aptos"/>
              </a:rPr>
              <a:t>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4626864"/>
            <a:ext cx="29718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2F6FF"/>
                </a:solidFill>
                <a:latin typeface="Aptos"/>
              </a:rPr>
              <a:t>Sort the left and right parts recursively.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4846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AB7BFF"/>
                </a:solidFill>
                <a:latin typeface="Aptos"/>
              </a:rPr>
              <a:t>PARTITION AROUND PIVOT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011680"/>
            <a:ext cx="566928" cy="548640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68896" y="2011680"/>
            <a:ext cx="566928" cy="548640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8896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27264" y="2011680"/>
            <a:ext cx="566928" cy="548640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4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85632" y="2011680"/>
            <a:ext cx="566928" cy="548640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011680"/>
            <a:ext cx="566928" cy="548640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2367" y="2011680"/>
            <a:ext cx="566928" cy="548640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7" y="2020824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01200" y="2651760"/>
            <a:ext cx="0" cy="502920"/>
          </a:xfrm>
          <a:prstGeom prst="line">
            <a:avLst/>
          </a:prstGeom>
          <a:ln w="25400">
            <a:solidFill>
              <a:srgbClr val="FFB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2807208"/>
            <a:ext cx="466344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2DCE5"/>
                </a:solidFill>
                <a:latin typeface="Aptos"/>
              </a:rPr>
              <a:t>After partition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3310128"/>
            <a:ext cx="566928" cy="548640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04888" y="3310128"/>
            <a:ext cx="566928" cy="548640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4888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63256" y="3310128"/>
            <a:ext cx="566928" cy="54864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3256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21624" y="3310128"/>
            <a:ext cx="566928" cy="548640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79992" y="3310128"/>
            <a:ext cx="566928" cy="548640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9992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59" y="3310128"/>
            <a:ext cx="566928" cy="548640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59" y="3319272"/>
            <a:ext cx="566928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069080"/>
            <a:ext cx="475488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All items left of the pivot are ≤ 5; all items right are &gt; 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892040"/>
            <a:ext cx="47548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Then recursively sort the parts on either side.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02  / 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Partitioning: the key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A9B8CF"/>
                </a:solidFill>
                <a:latin typeface="Aptos"/>
              </a:rPr>
              <a:t>Using the last element as pivot (Lomuto partition scheme)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2DCE5"/>
                </a:solidFill>
                <a:latin typeface="Aptos"/>
              </a:rPr>
              <a:t>Initial array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783080"/>
            <a:ext cx="658368" cy="56692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783080"/>
            <a:ext cx="658368" cy="56692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2816" y="1783080"/>
            <a:ext cx="658368" cy="56692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1783080"/>
            <a:ext cx="658368" cy="56692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92624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1" y="1783080"/>
            <a:ext cx="658368" cy="566928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783080"/>
            <a:ext cx="658368" cy="566928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92224"/>
            <a:ext cx="65836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01368"/>
            <a:ext cx="1645920" cy="530352"/>
          </a:xfrm>
          <a:prstGeom prst="roundRect">
            <a:avLst/>
          </a:prstGeom>
          <a:solidFill>
            <a:srgbClr val="453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856231"/>
            <a:ext cx="14630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B35C"/>
                </a:solidFill>
                <a:latin typeface="Aptos"/>
              </a:rPr>
              <a:t>Pivot =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606040"/>
            <a:ext cx="10561320" cy="566928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2679192"/>
            <a:ext cx="411480" cy="411480"/>
          </a:xfrm>
          <a:prstGeom prst="roundRect">
            <a:avLst/>
          </a:prstGeom>
          <a:solidFill>
            <a:srgbClr val="4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2679192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0D19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660904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Scan left to right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660904"/>
            <a:ext cx="6720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9 is greater than 5 → leave it for now.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319272"/>
            <a:ext cx="10561320" cy="566928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" y="3392424"/>
            <a:ext cx="411480" cy="411480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392424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0D19"/>
                </a:solidFill>
                <a:latin typeface="Apto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374136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Find a smaller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74136"/>
            <a:ext cx="6720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4 ≤ 5 → move it to the left region.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032504"/>
            <a:ext cx="10561320" cy="566928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" y="4105656"/>
            <a:ext cx="411480" cy="411480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105656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0D19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087368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Continue scanning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087368"/>
            <a:ext cx="6720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7 &gt; 5; 3 ≤ 5 → move 3 next to 4.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745736"/>
            <a:ext cx="10561320" cy="566928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2" y="4818888"/>
            <a:ext cx="411480" cy="41148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4818888"/>
            <a:ext cx="411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80D19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4800599"/>
            <a:ext cx="24688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Place the pivot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800599"/>
            <a:ext cx="6720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9B8CF"/>
                </a:solidFill>
                <a:latin typeface="Aptos"/>
              </a:rPr>
              <a:t>Swap 5 with the first value greater than it.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03  /  STEP-BY-STEP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Worked example: one partition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Pivot = 5   •   Start with [9, 4, 7, 3, 10, 5]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444752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704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704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576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7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7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4487" y="2286000"/>
            <a:ext cx="521207" cy="438912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16352"/>
            <a:ext cx="4754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Set pivot to the last element: 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28800"/>
            <a:ext cx="5212080" cy="1444752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93852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AFTER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6248" y="2286000"/>
            <a:ext cx="521207" cy="438912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060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44967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7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9327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228600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368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8048" y="2286000"/>
            <a:ext cx="521207" cy="438912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28048" y="229514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816352"/>
            <a:ext cx="4754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4 is smaller than 5, so move it to the left region.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611880"/>
            <a:ext cx="5212080" cy="1444752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72160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AFTER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" y="4069080"/>
            <a:ext cx="521207" cy="438912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27048" y="4069080"/>
            <a:ext cx="521207" cy="438912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2704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21408" y="406908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2140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15768" y="406908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10127" y="4069080"/>
            <a:ext cx="521207" cy="43891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7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04487" y="4069080"/>
            <a:ext cx="521207" cy="438912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04487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599432"/>
            <a:ext cx="4754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3 is smaller than 5, so swap it into the left region.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611880"/>
            <a:ext cx="5212080" cy="1444752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372160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EE19D"/>
                </a:solidFill>
                <a:latin typeface="Aptos"/>
              </a:rPr>
              <a:t>PLACE PIVOT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56248" y="4069080"/>
            <a:ext cx="521207" cy="438912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50608" y="4069080"/>
            <a:ext cx="521207" cy="438912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5060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44967" y="4069080"/>
            <a:ext cx="521207" cy="438912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4967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39327" y="4069080"/>
            <a:ext cx="521207" cy="438912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39327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33688" y="4069080"/>
            <a:ext cx="521207" cy="438912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3368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28048" y="4069080"/>
            <a:ext cx="521207" cy="438912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28048" y="4078224"/>
            <a:ext cx="521207" cy="42062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7960" y="4599432"/>
            <a:ext cx="475488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Swap the pivot with the first larger element. Pivot 5 is now fixed.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80160" y="5559552"/>
            <a:ext cx="9601200" cy="475488"/>
          </a:xfrm>
          <a:prstGeom prst="roundRect">
            <a:avLst/>
          </a:prstGeom>
          <a:solidFill>
            <a:srgbClr val="143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63040" y="5596128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EE19D"/>
                </a:solidFill>
                <a:latin typeface="Aptos"/>
              </a:rPr>
              <a:t>Result: [4, 3]   |   5   |   [9, 10, 7]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04  /  RECURSIVE SORTING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What happens after partition?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A9B8CF"/>
                </a:solidFill>
                <a:latin typeface="Aptos"/>
              </a:rPr>
              <a:t>The pivot is in its correct place. Now Quick Sort each 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3108960" cy="91440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39112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684FF"/>
                </a:solidFill>
                <a:latin typeface="Aptos"/>
              </a:rPr>
              <a:t>LEFT SUBARRAY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2395728"/>
            <a:ext cx="621792" cy="329184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404872"/>
            <a:ext cx="621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3" y="2395728"/>
            <a:ext cx="621792" cy="329184"/>
          </a:xfrm>
          <a:prstGeom prst="roundRect">
            <a:avLst/>
          </a:prstGeom>
          <a:solidFill>
            <a:srgbClr val="56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2404872"/>
            <a:ext cx="621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20240"/>
            <a:ext cx="2834640" cy="914400"/>
          </a:xfrm>
          <a:prstGeom prst="roundRect">
            <a:avLst/>
          </a:prstGeom>
          <a:solidFill>
            <a:srgbClr val="143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39112"/>
            <a:ext cx="2468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EE19D"/>
                </a:solidFill>
                <a:latin typeface="Aptos"/>
              </a:rPr>
              <a:t>FIXED PIVOT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50992" y="2395728"/>
            <a:ext cx="621792" cy="329184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50992" y="2404872"/>
            <a:ext cx="621792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920240"/>
            <a:ext cx="3337560" cy="91440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039112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B7BFF"/>
                </a:solidFill>
                <a:latin typeface="Aptos"/>
              </a:rPr>
              <a:t>RIGHT SUBARRAY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395728"/>
            <a:ext cx="566928" cy="329184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404872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566928" cy="329184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404872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395728"/>
            <a:ext cx="566928" cy="329184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04872"/>
            <a:ext cx="56692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2971800"/>
            <a:ext cx="0" cy="457200"/>
          </a:xfrm>
          <a:prstGeom prst="line">
            <a:avLst/>
          </a:prstGeom>
          <a:ln w="22860">
            <a:solidFill>
              <a:srgbClr val="568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2971800"/>
            <a:ext cx="0" cy="457200"/>
          </a:xfrm>
          <a:prstGeom prst="line">
            <a:avLst/>
          </a:prstGeom>
          <a:ln w="22860">
            <a:solidFill>
              <a:srgbClr val="AB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3163824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2DCE5"/>
                </a:solidFill>
                <a:latin typeface="Aptos"/>
              </a:rPr>
              <a:t>Each recursive call picks a new pivot and partitions its subarray.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657600"/>
            <a:ext cx="4663440" cy="109728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803904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684FF"/>
                </a:solidFill>
                <a:latin typeface="Aptos"/>
              </a:rPr>
              <a:t>Sort [4, 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8528" y="4178808"/>
            <a:ext cx="658368" cy="38404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38528" y="4187952"/>
            <a:ext cx="658368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06624" y="4178808"/>
            <a:ext cx="658368" cy="38404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06624" y="4187952"/>
            <a:ext cx="658368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657600"/>
            <a:ext cx="4663440" cy="109728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803904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B7BFF"/>
                </a:solidFill>
                <a:latin typeface="Aptos"/>
              </a:rPr>
              <a:t>Sort [9, 10, 7]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3488" y="4178808"/>
            <a:ext cx="658368" cy="38404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187952"/>
            <a:ext cx="658368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4178808"/>
            <a:ext cx="658368" cy="38404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1583" y="4187952"/>
            <a:ext cx="658368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4178808"/>
            <a:ext cx="658368" cy="38404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4187952"/>
            <a:ext cx="658368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5212080"/>
            <a:ext cx="9601200" cy="658368"/>
          </a:xfrm>
          <a:prstGeom prst="roundRect">
            <a:avLst/>
          </a:prstGeom>
          <a:solidFill>
            <a:srgbClr val="143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3040" y="5321808"/>
            <a:ext cx="92354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EE19D"/>
                </a:solidFill>
                <a:latin typeface="Aptos"/>
              </a:rPr>
              <a:t>Final sorted array:  [3, 4, 5, 7, 9, 10]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05  / 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Quick Sort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6858000" cy="4526280"/>
          </a:xfrm>
          <a:prstGeom prst="roundRect">
            <a:avLst/>
          </a:prstGeom>
          <a:solidFill>
            <a:srgbClr val="080D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2DCE5"/>
                </a:solidFill>
                <a:latin typeface="Cascadia Code"/>
              </a:rPr>
              <a:t>QUICK_SORT(A, low, high)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Cascadia Code"/>
              </a:rPr>
              <a:t>if low &lt; high: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B7BFF"/>
                </a:solidFill>
                <a:latin typeface="Cascadia Code"/>
              </a:rPr>
              <a:t>    p = PARTITION(A, low, high)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25496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Cascadia Code"/>
              </a:rPr>
              <a:t>    QUICK_SORT(A, low, p - 1)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18688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Cascadia Code"/>
              </a:rPr>
              <a:t>    QUICK_SORT(A, p + 1, high)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6118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Cascadia Code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05072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2DCE5"/>
                </a:solidFill>
                <a:latin typeface="Cascadia Code"/>
              </a:rPr>
              <a:t>PARTITION(A, low, high)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98264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B35C"/>
                </a:solidFill>
                <a:latin typeface="Cascadia Code"/>
              </a:rPr>
              <a:t>pivot = A[high]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91456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Cascadia Code"/>
              </a:rPr>
              <a:t>Move each value ≤ pivot to the left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84648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EE19D"/>
                </a:solidFill>
                <a:latin typeface="Cascadia Code"/>
              </a:rPr>
              <a:t>Swap pivot into its final position; return 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645920"/>
            <a:ext cx="3337560" cy="105156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828800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BASE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10312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2F6FF"/>
                </a:solidFill>
                <a:latin typeface="Aptos"/>
              </a:rPr>
              <a:t>low ≥ high → stop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926080"/>
            <a:ext cx="3337560" cy="105156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108960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B35C"/>
                </a:solidFill>
                <a:latin typeface="Aptos"/>
              </a:rPr>
              <a:t>PIVOT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38328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Aptos"/>
              </a:rPr>
              <a:t>p is fixed after partition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4206240"/>
            <a:ext cx="3337560" cy="105156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4389120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EE19D"/>
                </a:solidFill>
                <a:latin typeface="Aptos"/>
              </a:rPr>
              <a:t>RECURSION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66344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F6FF"/>
                </a:solidFill>
                <a:latin typeface="Aptos"/>
              </a:rPr>
              <a:t>Sort both remaining sides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06  / 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Time complexity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291840" cy="14173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76479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EE19D"/>
                </a:solidFill>
                <a:latin typeface="Aptos"/>
              </a:rPr>
              <a:t>BEST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057400"/>
            <a:ext cx="2889504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F6FF"/>
                </a:solidFill>
                <a:latin typeface="Aptos"/>
              </a:rPr>
              <a:t>O(n log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514600"/>
            <a:ext cx="288950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8CF"/>
                </a:solidFill>
                <a:latin typeface="Aptos"/>
              </a:rPr>
              <a:t>Pivot splits into balanced parts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291840" cy="14173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76479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AVERAGE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057400"/>
            <a:ext cx="2889504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F6FF"/>
                </a:solidFill>
                <a:latin typeface="Aptos"/>
              </a:rPr>
              <a:t>O(n log 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514600"/>
            <a:ext cx="288950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8CF"/>
                </a:solidFill>
                <a:latin typeface="Aptos"/>
              </a:rPr>
              <a:t>Typical performance with good pivots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00200"/>
            <a:ext cx="3291840" cy="141732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764792"/>
            <a:ext cx="28895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7185"/>
                </a:solidFill>
                <a:latin typeface="Aptos"/>
              </a:rPr>
              <a:t>WORST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2889504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2F6FF"/>
                </a:solidFill>
                <a:latin typeface="Aptos"/>
              </a:rPr>
              <a:t>O(n²)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514600"/>
            <a:ext cx="2889504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9B8CF"/>
                </a:solidFill>
                <a:latin typeface="Aptos"/>
              </a:rPr>
              <a:t>Repeatedly choosing an extreme pivot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520440"/>
            <a:ext cx="4800600" cy="126187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703320"/>
            <a:ext cx="42519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B35C"/>
                </a:solidFill>
                <a:latin typeface="Aptos"/>
              </a:rPr>
              <a:t>AUXILIARY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05072"/>
            <a:ext cx="42519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O(log n)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16552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Recursive call stack; worst case O(n).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520440"/>
            <a:ext cx="4800600" cy="1261872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703320"/>
            <a:ext cx="42519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B7BFF"/>
                </a:solidFill>
                <a:latin typeface="Aptos"/>
              </a:rPr>
              <a:t>IN-PLACE &amp;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005072"/>
            <a:ext cx="42519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2F6FF"/>
                </a:solidFill>
                <a:latin typeface="Aptos"/>
              </a:rPr>
              <a:t>Usually in-place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416552"/>
            <a:ext cx="42519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Standard Quick Sort is not stable.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2DCE5"/>
                </a:solidFill>
                <a:latin typeface="Aptos"/>
              </a:rPr>
              <a:t>Performance depends on pivot choice; randomized or median-based pivots reduce bad splits.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07  /  PIVOT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Pivot choice changes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132588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737360"/>
            <a:ext cx="150876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46504"/>
            <a:ext cx="1417319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7185"/>
                </a:solidFill>
                <a:latin typeface="Aptos"/>
              </a:rPr>
              <a:t>POOR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[1, 2, 3, 4, 5]  →  [1,2,3,4] |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One side is nearly the whole array.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074920" cy="132588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737360"/>
            <a:ext cx="160020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46504"/>
            <a:ext cx="15087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EE19D"/>
                </a:solidFill>
                <a:latin typeface="Aptos"/>
              </a:rPr>
              <a:t>BALANCED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F6FF"/>
                </a:solidFill>
                <a:latin typeface="Aptos"/>
              </a:rPr>
              <a:t>[1, 2, 3, 4, 5]  →  [1,2] | 3 | [4,5]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9B8CF"/>
                </a:solidFill>
                <a:latin typeface="Aptos"/>
              </a:rPr>
              <a:t>Both sides are similar in size.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F6FF"/>
                </a:solidFill>
                <a:latin typeface="Aptos"/>
              </a:rPr>
              <a:t>Useful pivot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014215"/>
            <a:ext cx="109728" cy="109728"/>
          </a:xfrm>
          <a:prstGeom prst="roundRect">
            <a:avLst/>
          </a:prstGeom>
          <a:solidFill>
            <a:srgbClr val="42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3584" y="3886200"/>
            <a:ext cx="963777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Random pivot: avoids consistently bad splits on ordered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626864"/>
            <a:ext cx="109728" cy="109728"/>
          </a:xfrm>
          <a:prstGeom prst="roundRect">
            <a:avLst/>
          </a:prstGeom>
          <a:solidFill>
            <a:srgbClr val="AB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498848"/>
            <a:ext cx="963777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Median-of-three: choose the median of first, middle and last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239512"/>
            <a:ext cx="109728" cy="109728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584" y="5111496"/>
            <a:ext cx="963777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Always picking the first/last value can be poor for already sorted data.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73152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08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2F6FF"/>
                </a:solidFill>
                <a:latin typeface="Aptos"/>
              </a:rPr>
              <a:t>Strengths, limitations and 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5074920" cy="352044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755648"/>
            <a:ext cx="141732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EE19D"/>
                </a:solidFill>
                <a:latin typeface="Aptos"/>
              </a:rPr>
              <a:t>STRENGTHS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459736"/>
            <a:ext cx="109728" cy="10972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9304" y="2331720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Fast average performance: O(n log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27248"/>
            <a:ext cx="109728" cy="10972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2999232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Usually sorts within the original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794759"/>
            <a:ext cx="109728" cy="109728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3666744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Good cache performance in many implementations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5074920" cy="352044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1755648"/>
            <a:ext cx="1417320" cy="310896"/>
          </a:xfrm>
          <a:prstGeom prst="roundRect">
            <a:avLst/>
          </a:prstGeom>
          <a:solidFill>
            <a:srgbClr val="1B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64792"/>
            <a:ext cx="1325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35C"/>
                </a:solidFill>
                <a:latin typeface="Aptos"/>
              </a:rP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459736"/>
            <a:ext cx="109728" cy="109728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2331720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Worst-case time can be O(n²)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127248"/>
            <a:ext cx="109728" cy="109728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2999232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Standard version does not preserve equal-key order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794759"/>
            <a:ext cx="109728" cy="109728"/>
          </a:xfrm>
          <a:prstGeom prst="roundRect">
            <a:avLst/>
          </a:prstGeom>
          <a:solidFill>
            <a:srgbClr val="FFB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3666744"/>
            <a:ext cx="4242816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2F6FF"/>
                </a:solidFill>
                <a:latin typeface="Aptos"/>
              </a:rPr>
              <a:t>Recursion uses stack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349240"/>
            <a:ext cx="10058400" cy="566928"/>
          </a:xfrm>
          <a:prstGeom prst="roundRect">
            <a:avLst/>
          </a:prstGeom>
          <a:solidFill>
            <a:srgbClr val="143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422392"/>
            <a:ext cx="96012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EE19D"/>
                </a:solidFill>
                <a:latin typeface="Aptos"/>
              </a:rPr>
              <a:t>A practical choice when speed and low extra memory are important.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66928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2DCE5"/>
                </a:solidFill>
                <a:latin typeface="Aptos"/>
              </a:rPr>
              <a:t>FINAL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3152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2F6FF"/>
                </a:solidFill>
                <a:latin typeface="Aptos"/>
              </a:rPr>
              <a:t>Remember the Quick Sort pattern.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246120" cy="160020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6771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2DCE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F6FF"/>
                </a:solidFill>
                <a:latin typeface="Aptos"/>
              </a:rPr>
              <a:t>PICK A PIVOT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063240"/>
            <a:ext cx="28346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8CF"/>
                </a:solidFill>
                <a:latin typeface="Aptos"/>
              </a:rPr>
              <a:t>Choose an element.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57400"/>
            <a:ext cx="3246120" cy="160020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26771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B3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F6FF"/>
                </a:solidFill>
                <a:latin typeface="Aptos"/>
              </a:rPr>
              <a:t>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063240"/>
            <a:ext cx="28346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8CF"/>
                </a:solidFill>
                <a:latin typeface="Aptos"/>
              </a:rPr>
              <a:t>Put smaller/larger values on sides.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057400"/>
            <a:ext cx="3246120" cy="1600200"/>
          </a:xfrm>
          <a:prstGeom prst="roundRect">
            <a:avLst/>
          </a:prstGeom>
          <a:solidFill>
            <a:srgbClr val="15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267712"/>
            <a:ext cx="548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EE19D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651760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2F6FF"/>
                </a:solidFill>
                <a:latin typeface="Aptos"/>
              </a:rPr>
              <a:t>RECURSE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3063240"/>
            <a:ext cx="283464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9B8CF"/>
                </a:solidFill>
                <a:latin typeface="Aptos"/>
              </a:rPr>
              <a:t>Repeat on both sides.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9B8CF"/>
                </a:solidFill>
                <a:latin typeface="Aptos"/>
              </a:rPr>
              <a:t>FINAL SORTED ARRAY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572000"/>
            <a:ext cx="786384" cy="594360"/>
          </a:xfrm>
          <a:prstGeom prst="roundRect">
            <a:avLst/>
          </a:prstGeom>
          <a:solidFill>
            <a:srgbClr val="5EE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4581144"/>
            <a:ext cx="786384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2F6FF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60704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A9B8CF"/>
                </a:solidFill>
                <a:latin typeface="Aptos"/>
              </a:rPr>
              <a:t>Generated using ChatGPT  •  Thank you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C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0528"/>
            <a:ext cx="64008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9B8CF"/>
                </a:solidFill>
                <a:latin typeface="Aptos"/>
              </a:rPr>
              <a:t>DAA  •  QUICK SORT  •  GENERATED USING CHATGPT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92240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2DCE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